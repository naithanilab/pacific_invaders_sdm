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973F2-127A-4EC7-81E5-4323F4FDB5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72C257-952C-4A31-9BFB-DB90A14744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3A1194-32F2-47F6-B96D-293EC4B37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B6322-E211-4B37-A221-DB570C4421FF}" type="datetimeFigureOut">
              <a:rPr lang="en-DE" smtClean="0"/>
              <a:t>11/12/2020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5CB9CE-F32B-48CF-878E-28B4D76F2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8411C4-4A71-45BF-ADB4-D5CEDC2BA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177F1-A698-47D7-8162-E07A1924BDE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6719639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D974A-B6A4-4685-AE7B-D9D2D5211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012F34-B1ED-4D69-BDB2-C35A18EE84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5738AC-409D-431A-B0CF-9DEE3F1409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B6322-E211-4B37-A221-DB570C4421FF}" type="datetimeFigureOut">
              <a:rPr lang="en-DE" smtClean="0"/>
              <a:t>11/12/2020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E3EB0D-50D7-4B53-B5DB-B7C114C6E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B803AD-DC88-46FD-941D-37112BE25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177F1-A698-47D7-8162-E07A1924BDE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1137965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6E466-A80A-43BA-ACFB-D532BDE683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88BD90-925D-4A38-AC9F-5D9CDF1B9A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6355DC-3FF6-4538-ABA8-4CABB44BE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B6322-E211-4B37-A221-DB570C4421FF}" type="datetimeFigureOut">
              <a:rPr lang="en-DE" smtClean="0"/>
              <a:t>11/12/2020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E9C0B4-970F-4083-8B8E-8C42265CB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6B4FE5-EB17-473A-A031-DED6FD804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177F1-A698-47D7-8162-E07A1924BDE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126010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9CA48-37CA-4737-8949-C13B056EF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65B34A-4E6E-47AA-8ABC-4FE23BFF9A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B71F2E-C751-440A-BC72-18A1D639B3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8858DA-8A47-4685-A041-02D653AFB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B6322-E211-4B37-A221-DB570C4421FF}" type="datetimeFigureOut">
              <a:rPr lang="en-DE" smtClean="0"/>
              <a:t>11/12/2020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A0654D-0995-4279-A2B9-7422AB1846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B520F8-4026-49FE-B523-77F77D000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177F1-A698-47D7-8162-E07A1924BDE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9584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30708-A96A-4196-8772-719E27CD0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8BB46F-58D9-434A-9A2D-1E9DAB328D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7D9EAD-DDAF-4574-8424-4AEE8CF917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A8B1FE-889B-434F-999B-DBA785C947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C6D12EA-070C-4C66-AB47-2DD0964D7C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8A0E12-D7EE-4C8B-970C-8FBD219AB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B6322-E211-4B37-A221-DB570C4421FF}" type="datetimeFigureOut">
              <a:rPr lang="en-DE" smtClean="0"/>
              <a:t>11/12/2020</a:t>
            </a:fld>
            <a:endParaRPr lang="en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9228641-2B9F-4852-A052-4B22203A1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720DFF-FC7C-45E2-B41A-53A929543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177F1-A698-47D7-8162-E07A1924BDE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2802575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C4B27-2A01-4928-B1E8-A9598E89C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0F9CBD-D9C2-48D3-A3EC-3CD339C2CA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B6322-E211-4B37-A221-DB570C4421FF}" type="datetimeFigureOut">
              <a:rPr lang="en-DE" smtClean="0"/>
              <a:t>11/12/2020</a:t>
            </a:fld>
            <a:endParaRPr lang="en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4DD463-CC8D-41FE-8F6F-F12C5DC3B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FDBB46-2A31-4B2D-BAA4-BEDA5FA81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177F1-A698-47D7-8162-E07A1924BDE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1278245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C20990-2BFD-4F9D-ABA7-72E2B69F3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B6322-E211-4B37-A221-DB570C4421FF}" type="datetimeFigureOut">
              <a:rPr lang="en-DE" smtClean="0"/>
              <a:t>11/12/2020</a:t>
            </a:fld>
            <a:endParaRPr lang="en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6653F5-8A75-4AA8-A29C-3B43D4AD1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67AD98-CF8C-43D4-8CA7-129E85623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177F1-A698-47D7-8162-E07A1924BDE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0154180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47C16-4E1C-4C47-9CEF-A424D5CBA8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2103F8-643E-4496-855B-45A236C311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548055-E874-440C-AF10-B332D800C7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5DD936-A4BC-48AD-B974-15C35A16B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B6322-E211-4B37-A221-DB570C4421FF}" type="datetimeFigureOut">
              <a:rPr lang="en-DE" smtClean="0"/>
              <a:t>11/12/2020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9B43BA-6424-46B1-A391-DFBF00DB3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A1A7B3-4B93-4D74-8310-2F59C43DE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177F1-A698-47D7-8162-E07A1924BDE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2108135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295BB-C8EB-4F62-9086-AD54F93D9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59DE69-3362-4EC5-B7AA-D4A918FA13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832E94-AF44-4FC8-830A-B069437F36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766A94-331E-478C-A180-215BA8725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B6322-E211-4B37-A221-DB570C4421FF}" type="datetimeFigureOut">
              <a:rPr lang="en-DE" smtClean="0"/>
              <a:t>11/12/2020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1108C6-1ED6-43FD-82DF-DD595E7DC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1732FC-D5E2-4894-B086-5574FA4FE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177F1-A698-47D7-8162-E07A1924BDE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5930588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61D6B-B708-4140-A913-F46C0FF75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23E980-1D62-476D-8F0D-43682EEAF3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7D0EAB-1F5C-48AF-9C02-56C171238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B6322-E211-4B37-A221-DB570C4421FF}" type="datetimeFigureOut">
              <a:rPr lang="en-DE" smtClean="0"/>
              <a:t>11/12/2020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3589A7-591A-4918-AE18-5C243A79F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421B73-1990-4127-9835-4D942FDC8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177F1-A698-47D7-8162-E07A1924BDE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4811193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5EA67BD-8692-41CE-8898-FD472FAB6B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296F84-0988-4A86-B3AF-F25C1BE172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09DB5-47F6-4849-88DD-FB4FF75B0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B6322-E211-4B37-A221-DB570C4421FF}" type="datetimeFigureOut">
              <a:rPr lang="en-DE" smtClean="0"/>
              <a:t>11/12/2020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E99EFC-09B6-4524-AA74-C4B529FD4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27BDDF-C0B6-4987-8AA7-F9EE778E2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177F1-A698-47D7-8162-E07A1924BDE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7880892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1C54F3-5F3F-4596-86F1-30E8DDFA7D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4E6560-2174-45CF-A4A5-793F02B59B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0176DD-4CB3-433D-8D37-3230D5B824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4B6322-E211-4B37-A221-DB570C4421FF}" type="datetimeFigureOut">
              <a:rPr lang="en-DE" smtClean="0"/>
              <a:t>11/12/2020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D5BFA4-77B8-4060-B8E8-8B7FB89F4A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799B74-3FCD-45C6-BAD1-3A9C61EC36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C177F1-A698-47D7-8162-E07A1924BDE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0354707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1553075-2F19-4CF6-8C38-D1F184F1F836}"/>
              </a:ext>
            </a:extLst>
          </p:cNvPr>
          <p:cNvSpPr/>
          <p:nvPr/>
        </p:nvSpPr>
        <p:spPr>
          <a:xfrm>
            <a:off x="0" y="1"/>
            <a:ext cx="12192000" cy="124841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1F698F0-8781-4ECA-AC33-9045C571E274}"/>
              </a:ext>
            </a:extLst>
          </p:cNvPr>
          <p:cNvSpPr/>
          <p:nvPr/>
        </p:nvSpPr>
        <p:spPr>
          <a:xfrm>
            <a:off x="2148589" y="135621"/>
            <a:ext cx="1887524" cy="102345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Occurrence data </a:t>
            </a:r>
            <a:r>
              <a:rPr lang="ro-RO" dirty="0"/>
              <a:t>GBIF and BIEN</a:t>
            </a:r>
            <a:endParaRPr lang="en-US" dirty="0"/>
          </a:p>
          <a:p>
            <a:pPr algn="ctr"/>
            <a:r>
              <a:rPr lang="fr-FR" sz="1200" dirty="0"/>
              <a:t>(PacAlienSpp_GBIFBIEN_occurrences_Aug2018.Rdata)</a:t>
            </a:r>
            <a:endParaRPr lang="en-DE" sz="12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71195E5-9520-45DE-8F17-60A70C0103A9}"/>
              </a:ext>
            </a:extLst>
          </p:cNvPr>
          <p:cNvSpPr/>
          <p:nvPr/>
        </p:nvSpPr>
        <p:spPr>
          <a:xfrm>
            <a:off x="4183304" y="135621"/>
            <a:ext cx="2432806" cy="102345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GADM shapefile </a:t>
            </a:r>
          </a:p>
          <a:p>
            <a:pPr algn="ctr"/>
            <a:r>
              <a:rPr lang="en-US" sz="1200" dirty="0"/>
              <a:t>(</a:t>
            </a:r>
            <a:r>
              <a:rPr lang="ro-RO" sz="1200" dirty="0"/>
              <a:t>gadm36_0.shp</a:t>
            </a:r>
            <a:r>
              <a:rPr lang="en-US" sz="1200" dirty="0"/>
              <a:t>)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Check country ISO &amp; name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Remove points in water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27AF32F-A7B4-432F-92BD-9DDB4BC56333}"/>
              </a:ext>
            </a:extLst>
          </p:cNvPr>
          <p:cNvSpPr/>
          <p:nvPr/>
        </p:nvSpPr>
        <p:spPr>
          <a:xfrm>
            <a:off x="6753126" y="135621"/>
            <a:ext cx="1543586" cy="102345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GIFT</a:t>
            </a:r>
            <a:r>
              <a:rPr lang="ro-RO" dirty="0"/>
              <a:t> shapefile</a:t>
            </a:r>
            <a:endParaRPr lang="en-US" dirty="0"/>
          </a:p>
          <a:p>
            <a:pPr algn="ctr"/>
            <a:r>
              <a:rPr lang="en-US" sz="1200" dirty="0"/>
              <a:t>(</a:t>
            </a:r>
            <a:r>
              <a:rPr lang="ro-RO" sz="1200" dirty="0"/>
              <a:t>geoentities.sh</a:t>
            </a:r>
            <a:r>
              <a:rPr lang="en-US" sz="1200" dirty="0"/>
              <a:t>)</a:t>
            </a:r>
          </a:p>
          <a:p>
            <a:r>
              <a:rPr lang="en-US" sz="1400" dirty="0"/>
              <a:t>- Get </a:t>
            </a:r>
            <a:r>
              <a:rPr lang="en-US" sz="1400" dirty="0" err="1"/>
              <a:t>geoentity</a:t>
            </a:r>
            <a:r>
              <a:rPr lang="en-US" sz="1400" dirty="0"/>
              <a:t> IDs</a:t>
            </a:r>
            <a:endParaRPr lang="en-DE" sz="14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B57430B-FB80-4130-90F2-C59BA00217F9}"/>
              </a:ext>
            </a:extLst>
          </p:cNvPr>
          <p:cNvSpPr/>
          <p:nvPr/>
        </p:nvSpPr>
        <p:spPr>
          <a:xfrm>
            <a:off x="8433728" y="135621"/>
            <a:ext cx="2147582" cy="102345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  <a:r>
              <a:rPr lang="ro-RO" dirty="0"/>
              <a:t>otanical</a:t>
            </a:r>
            <a:r>
              <a:rPr lang="en-US" dirty="0"/>
              <a:t> G</a:t>
            </a:r>
            <a:r>
              <a:rPr lang="ro-RO" dirty="0"/>
              <a:t>arden</a:t>
            </a:r>
            <a:r>
              <a:rPr lang="en-US" dirty="0"/>
              <a:t>s</a:t>
            </a:r>
          </a:p>
          <a:p>
            <a:pPr algn="ctr"/>
            <a:r>
              <a:rPr lang="en-US" sz="1200" dirty="0"/>
              <a:t>(</a:t>
            </a:r>
            <a:r>
              <a:rPr lang="ro-RO" sz="1200" dirty="0"/>
              <a:t>BGCI_garden_coordinates.csv</a:t>
            </a:r>
            <a:r>
              <a:rPr lang="en-US" sz="1200" dirty="0"/>
              <a:t>)</a:t>
            </a:r>
          </a:p>
          <a:p>
            <a:r>
              <a:rPr lang="en-US" sz="1400" dirty="0"/>
              <a:t>- Make 10 km buffers</a:t>
            </a:r>
            <a:endParaRPr lang="en-DE" sz="14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42198AA-BE31-49A7-95DA-0F74D49E8A3E}"/>
              </a:ext>
            </a:extLst>
          </p:cNvPr>
          <p:cNvSpPr/>
          <p:nvPr/>
        </p:nvSpPr>
        <p:spPr>
          <a:xfrm>
            <a:off x="143968" y="135621"/>
            <a:ext cx="1887524" cy="102345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Alien status data</a:t>
            </a:r>
          </a:p>
          <a:p>
            <a:r>
              <a:rPr lang="en-US" sz="1200" dirty="0"/>
              <a:t>(</a:t>
            </a:r>
            <a:r>
              <a:rPr lang="ro-RO" sz="1200" dirty="0"/>
              <a:t>Pacific_Invaders_0707.csv</a:t>
            </a:r>
            <a:r>
              <a:rPr lang="en-US" sz="1200" dirty="0"/>
              <a:t>, </a:t>
            </a:r>
            <a:r>
              <a:rPr lang="ro-RO" sz="1200" dirty="0"/>
              <a:t>googlenames_gift.csv</a:t>
            </a:r>
            <a:r>
              <a:rPr lang="en-US" sz="1200" dirty="0"/>
              <a:t>, </a:t>
            </a:r>
            <a:r>
              <a:rPr lang="ro-RO" sz="1200" dirty="0"/>
              <a:t>State_ID.csv</a:t>
            </a:r>
            <a:r>
              <a:rPr lang="en-US" sz="1200" dirty="0"/>
              <a:t>)</a:t>
            </a:r>
            <a:endParaRPr lang="en-DE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D85AEF-E8A1-4A70-897F-C6F40155F8D5}"/>
              </a:ext>
            </a:extLst>
          </p:cNvPr>
          <p:cNvSpPr txBox="1"/>
          <p:nvPr/>
        </p:nvSpPr>
        <p:spPr>
          <a:xfrm>
            <a:off x="10939244" y="494950"/>
            <a:ext cx="7697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</a:t>
            </a:r>
            <a:endParaRPr lang="en-DE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5167D7D-7403-4FC4-8C09-B5D9E385B79E}"/>
              </a:ext>
            </a:extLst>
          </p:cNvPr>
          <p:cNvSpPr/>
          <p:nvPr/>
        </p:nvSpPr>
        <p:spPr>
          <a:xfrm>
            <a:off x="3573710" y="1964557"/>
            <a:ext cx="2329336" cy="765923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Occ. data with GADM country ISO &amp; name</a:t>
            </a:r>
          </a:p>
          <a:p>
            <a:pPr algn="ctr"/>
            <a:r>
              <a:rPr lang="en-US" sz="1200" dirty="0"/>
              <a:t>(</a:t>
            </a:r>
            <a:r>
              <a:rPr lang="ro-RO" sz="1200" dirty="0"/>
              <a:t>occ_gadm.rds</a:t>
            </a:r>
            <a:r>
              <a:rPr lang="en-US" sz="1200" dirty="0"/>
              <a:t>)</a:t>
            </a:r>
            <a:endParaRPr lang="en-DE" sz="12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9B0BEAF-4424-45CD-91C1-5E9383379870}"/>
              </a:ext>
            </a:extLst>
          </p:cNvPr>
          <p:cNvSpPr/>
          <p:nvPr/>
        </p:nvSpPr>
        <p:spPr>
          <a:xfrm>
            <a:off x="262432" y="4025332"/>
            <a:ext cx="2329336" cy="1679197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Alien status for unique species x </a:t>
            </a:r>
            <a:r>
              <a:rPr lang="ro-RO" dirty="0"/>
              <a:t>GloNAF </a:t>
            </a:r>
            <a:r>
              <a:rPr lang="en-US" dirty="0" err="1"/>
              <a:t>geoentity</a:t>
            </a:r>
            <a:r>
              <a:rPr lang="en-US" dirty="0"/>
              <a:t> ID</a:t>
            </a:r>
          </a:p>
          <a:p>
            <a:pPr algn="ctr"/>
            <a:r>
              <a:rPr lang="en-US" sz="1200" dirty="0"/>
              <a:t>(</a:t>
            </a:r>
            <a:r>
              <a:rPr lang="ro-RO" sz="1200" dirty="0"/>
              <a:t>pi_alien.csv</a:t>
            </a:r>
            <a:r>
              <a:rPr lang="en-US" sz="1200" dirty="0"/>
              <a:t>)</a:t>
            </a:r>
          </a:p>
          <a:p>
            <a:r>
              <a:rPr lang="en-US" sz="1400" dirty="0"/>
              <a:t>Keys: </a:t>
            </a:r>
          </a:p>
          <a:p>
            <a:r>
              <a:rPr lang="en-US" sz="1400" dirty="0"/>
              <a:t>- species name</a:t>
            </a:r>
          </a:p>
          <a:p>
            <a:r>
              <a:rPr lang="en-US" sz="1400" dirty="0"/>
              <a:t>- GIFT ID</a:t>
            </a:r>
            <a:endParaRPr lang="en-DE" sz="14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60E1F5C-BDE8-4615-842E-B573B20ACB99}"/>
              </a:ext>
            </a:extLst>
          </p:cNvPr>
          <p:cNvSpPr/>
          <p:nvPr/>
        </p:nvSpPr>
        <p:spPr>
          <a:xfrm>
            <a:off x="3571688" y="3506166"/>
            <a:ext cx="2329336" cy="55000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Clean occ. Data</a:t>
            </a:r>
          </a:p>
          <a:p>
            <a:pPr algn="ctr"/>
            <a:r>
              <a:rPr lang="en-US" sz="1200" dirty="0"/>
              <a:t>(</a:t>
            </a:r>
            <a:r>
              <a:rPr lang="ro-RO" sz="1200" dirty="0"/>
              <a:t>occ_clean.rds</a:t>
            </a:r>
            <a:r>
              <a:rPr lang="en-US" sz="1200" dirty="0"/>
              <a:t>)</a:t>
            </a:r>
            <a:endParaRPr lang="en-DE" sz="12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6CC9581-8B95-4B38-B4B4-323F0AE9AA5D}"/>
              </a:ext>
            </a:extLst>
          </p:cNvPr>
          <p:cNvSpPr/>
          <p:nvPr/>
        </p:nvSpPr>
        <p:spPr>
          <a:xfrm>
            <a:off x="3573710" y="4864931"/>
            <a:ext cx="2329336" cy="1328943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Clean occ. data with GIFT </a:t>
            </a:r>
            <a:r>
              <a:rPr lang="en-US" dirty="0" err="1"/>
              <a:t>geoentity</a:t>
            </a:r>
            <a:r>
              <a:rPr lang="en-US" dirty="0"/>
              <a:t> ID </a:t>
            </a:r>
          </a:p>
          <a:p>
            <a:pPr algn="ctr"/>
            <a:r>
              <a:rPr lang="en-US" sz="1200" dirty="0"/>
              <a:t>(</a:t>
            </a:r>
            <a:r>
              <a:rPr lang="ro-RO" sz="1200" dirty="0"/>
              <a:t>occ_clean_g</a:t>
            </a:r>
            <a:r>
              <a:rPr lang="en-US" sz="1200" dirty="0" err="1"/>
              <a:t>ift</a:t>
            </a:r>
            <a:r>
              <a:rPr lang="ro-RO" sz="1200" dirty="0"/>
              <a:t>.rds</a:t>
            </a:r>
            <a:r>
              <a:rPr lang="en-US" sz="1200" dirty="0"/>
              <a:t>)</a:t>
            </a:r>
          </a:p>
          <a:p>
            <a:r>
              <a:rPr lang="en-US" sz="1400" dirty="0"/>
              <a:t>Keys: </a:t>
            </a:r>
          </a:p>
          <a:p>
            <a:r>
              <a:rPr lang="en-US" sz="1400" dirty="0"/>
              <a:t>- species name</a:t>
            </a:r>
          </a:p>
          <a:p>
            <a:r>
              <a:rPr lang="en-US" sz="1400" dirty="0"/>
              <a:t>- GIFT ID</a:t>
            </a:r>
            <a:endParaRPr lang="en-DE" sz="1400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41813A1-C997-40F8-8307-5E912813993A}"/>
              </a:ext>
            </a:extLst>
          </p:cNvPr>
          <p:cNvCxnSpPr>
            <a:cxnSpLocks/>
            <a:stCxn id="2" idx="2"/>
            <a:endCxn id="41" idx="0"/>
          </p:cNvCxnSpPr>
          <p:nvPr/>
        </p:nvCxnSpPr>
        <p:spPr>
          <a:xfrm>
            <a:off x="3092351" y="1159078"/>
            <a:ext cx="1646027" cy="30294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5D9B1AD-FF70-4C90-8AA9-736CBF588AA5}"/>
              </a:ext>
            </a:extLst>
          </p:cNvPr>
          <p:cNvCxnSpPr>
            <a:cxnSpLocks/>
            <a:stCxn id="3" idx="2"/>
            <a:endCxn id="41" idx="0"/>
          </p:cNvCxnSpPr>
          <p:nvPr/>
        </p:nvCxnSpPr>
        <p:spPr>
          <a:xfrm flipH="1">
            <a:off x="4738378" y="1159078"/>
            <a:ext cx="661329" cy="30294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6D9279E-4CB9-442A-8D05-911D8DC898B9}"/>
              </a:ext>
            </a:extLst>
          </p:cNvPr>
          <p:cNvCxnSpPr>
            <a:cxnSpLocks/>
            <a:stCxn id="55" idx="2"/>
            <a:endCxn id="13" idx="0"/>
          </p:cNvCxnSpPr>
          <p:nvPr/>
        </p:nvCxnSpPr>
        <p:spPr>
          <a:xfrm flipH="1">
            <a:off x="4736356" y="3262382"/>
            <a:ext cx="2022" cy="24378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90230982-B238-4921-BFED-89AC0E6A9075}"/>
              </a:ext>
            </a:extLst>
          </p:cNvPr>
          <p:cNvSpPr/>
          <p:nvPr/>
        </p:nvSpPr>
        <p:spPr>
          <a:xfrm>
            <a:off x="8342851" y="3022570"/>
            <a:ext cx="2329336" cy="784371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Botanical garden buffers</a:t>
            </a:r>
          </a:p>
          <a:p>
            <a:pPr algn="ctr"/>
            <a:r>
              <a:rPr lang="en-US" sz="1200" dirty="0"/>
              <a:t>(</a:t>
            </a:r>
            <a:r>
              <a:rPr lang="ro-RO" sz="1200" dirty="0"/>
              <a:t>botanical_gardens_buffers.rds</a:t>
            </a:r>
            <a:r>
              <a:rPr lang="en-US" sz="1200" dirty="0"/>
              <a:t>)</a:t>
            </a:r>
            <a:endParaRPr lang="en-DE" sz="1200" dirty="0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3E90DA15-30DA-4476-B68E-E6390B7019FB}"/>
              </a:ext>
            </a:extLst>
          </p:cNvPr>
          <p:cNvCxnSpPr>
            <a:cxnSpLocks/>
            <a:stCxn id="6" idx="2"/>
            <a:endCxn id="36" idx="0"/>
          </p:cNvCxnSpPr>
          <p:nvPr/>
        </p:nvCxnSpPr>
        <p:spPr>
          <a:xfrm>
            <a:off x="9507519" y="1159078"/>
            <a:ext cx="0" cy="77348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7EA41A8-10E6-4915-A53C-3EACBDBD06CF}"/>
              </a:ext>
            </a:extLst>
          </p:cNvPr>
          <p:cNvCxnSpPr>
            <a:cxnSpLocks/>
            <a:stCxn id="22" idx="1"/>
            <a:endCxn id="55" idx="3"/>
          </p:cNvCxnSpPr>
          <p:nvPr/>
        </p:nvCxnSpPr>
        <p:spPr>
          <a:xfrm flipH="1" flipV="1">
            <a:off x="5575186" y="3113477"/>
            <a:ext cx="2767665" cy="30127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635CD22-9C8B-4E61-A628-52CB974761BA}"/>
              </a:ext>
            </a:extLst>
          </p:cNvPr>
          <p:cNvCxnSpPr>
            <a:cxnSpLocks/>
            <a:stCxn id="7" idx="2"/>
            <a:endCxn id="5" idx="0"/>
          </p:cNvCxnSpPr>
          <p:nvPr/>
        </p:nvCxnSpPr>
        <p:spPr>
          <a:xfrm>
            <a:off x="1087730" y="1159078"/>
            <a:ext cx="335288" cy="179616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ABD46608-D031-4739-B1A0-59E9EFC90B13}"/>
              </a:ext>
            </a:extLst>
          </p:cNvPr>
          <p:cNvCxnSpPr>
            <a:cxnSpLocks/>
            <a:stCxn id="13" idx="2"/>
            <a:endCxn id="82" idx="0"/>
          </p:cNvCxnSpPr>
          <p:nvPr/>
        </p:nvCxnSpPr>
        <p:spPr>
          <a:xfrm>
            <a:off x="4736356" y="4056172"/>
            <a:ext cx="2023" cy="2527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1BB7C1D8-ACC6-43B5-80FB-E76E081C73ED}"/>
              </a:ext>
            </a:extLst>
          </p:cNvPr>
          <p:cNvCxnSpPr>
            <a:cxnSpLocks/>
            <a:stCxn id="14" idx="3"/>
            <a:endCxn id="163" idx="1"/>
          </p:cNvCxnSpPr>
          <p:nvPr/>
        </p:nvCxnSpPr>
        <p:spPr>
          <a:xfrm>
            <a:off x="5903046" y="5529403"/>
            <a:ext cx="460701" cy="88887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9" name="Group 198">
            <a:extLst>
              <a:ext uri="{FF2B5EF4-FFF2-40B4-BE49-F238E27FC236}">
                <a16:creationId xmlns:a16="http://schemas.microsoft.com/office/drawing/2014/main" id="{CFD6D820-1DDF-4704-A53F-7E66DAD0EE65}"/>
              </a:ext>
            </a:extLst>
          </p:cNvPr>
          <p:cNvGrpSpPr/>
          <p:nvPr/>
        </p:nvGrpSpPr>
        <p:grpSpPr>
          <a:xfrm>
            <a:off x="8342851" y="5265036"/>
            <a:ext cx="3075969" cy="1503832"/>
            <a:chOff x="8286224" y="4690042"/>
            <a:chExt cx="3075969" cy="1503832"/>
          </a:xfrm>
        </p:grpSpPr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2561BAA2-024E-45E2-A056-90E85A2FFC87}"/>
                </a:ext>
              </a:extLst>
            </p:cNvPr>
            <p:cNvSpPr/>
            <p:nvPr/>
          </p:nvSpPr>
          <p:spPr>
            <a:xfrm>
              <a:off x="8286224" y="4690042"/>
              <a:ext cx="3075969" cy="150383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CB45DBF-56BA-48DB-B329-E802D3349350}"/>
                </a:ext>
              </a:extLst>
            </p:cNvPr>
            <p:cNvSpPr/>
            <p:nvPr/>
          </p:nvSpPr>
          <p:spPr>
            <a:xfrm>
              <a:off x="8433727" y="5128471"/>
              <a:ext cx="2832337" cy="938168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Clean occ. data with alien status</a:t>
              </a:r>
            </a:p>
            <a:p>
              <a:pPr algn="ctr"/>
              <a:r>
                <a:rPr lang="en-US" sz="1200" dirty="0"/>
                <a:t>(</a:t>
              </a:r>
              <a:r>
                <a:rPr lang="en-US" sz="1200" dirty="0" err="1"/>
                <a:t>occurrence_clean_with_alien_status.rds</a:t>
              </a:r>
              <a:r>
                <a:rPr lang="en-US" sz="1200" dirty="0"/>
                <a:t>)</a:t>
              </a:r>
              <a:endParaRPr lang="en-DE" sz="1200" dirty="0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DFEA41BA-16CF-4A89-A334-7460FC7C0937}"/>
                </a:ext>
              </a:extLst>
            </p:cNvPr>
            <p:cNvSpPr txBox="1"/>
            <p:nvPr/>
          </p:nvSpPr>
          <p:spPr>
            <a:xfrm>
              <a:off x="9336734" y="4699828"/>
              <a:ext cx="97494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OUTPUT</a:t>
              </a:r>
              <a:endParaRPr lang="en-DE" dirty="0"/>
            </a:p>
          </p:txBody>
        </p:sp>
      </p:grp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6FF590B-2DB4-4452-B2D4-093D55C2531C}"/>
              </a:ext>
            </a:extLst>
          </p:cNvPr>
          <p:cNvSpPr/>
          <p:nvPr/>
        </p:nvSpPr>
        <p:spPr>
          <a:xfrm>
            <a:off x="109132" y="2955242"/>
            <a:ext cx="2627771" cy="297810"/>
          </a:xfrm>
          <a:prstGeom prst="round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data_prep_clean_alien_status_data.R</a:t>
            </a:r>
            <a:endParaRPr lang="en-DE" sz="1200" dirty="0"/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818F90AE-1EA8-4045-8746-5E9352BB41A1}"/>
              </a:ext>
            </a:extLst>
          </p:cNvPr>
          <p:cNvSpPr/>
          <p:nvPr/>
        </p:nvSpPr>
        <p:spPr>
          <a:xfrm>
            <a:off x="7969541" y="1932566"/>
            <a:ext cx="3075955" cy="297810"/>
          </a:xfrm>
          <a:prstGeom prst="round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data_prep_make_botanical_garden_buffers.R</a:t>
            </a:r>
            <a:endParaRPr lang="en-DE" sz="1200" dirty="0"/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99D58AEA-0878-4D15-8586-D868788A02A8}"/>
              </a:ext>
            </a:extLst>
          </p:cNvPr>
          <p:cNvSpPr/>
          <p:nvPr/>
        </p:nvSpPr>
        <p:spPr>
          <a:xfrm>
            <a:off x="3901570" y="2964572"/>
            <a:ext cx="1673616" cy="297810"/>
          </a:xfrm>
          <a:prstGeom prst="round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data_prep_clean_occ.R</a:t>
            </a:r>
            <a:endParaRPr lang="en-DE" sz="1200" dirty="0"/>
          </a:p>
        </p:txBody>
      </p: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43445D48-AB1F-446D-97CC-8B20C995A087}"/>
              </a:ext>
            </a:extLst>
          </p:cNvPr>
          <p:cNvSpPr/>
          <p:nvPr/>
        </p:nvSpPr>
        <p:spPr>
          <a:xfrm>
            <a:off x="3551157" y="4308872"/>
            <a:ext cx="2374443" cy="297810"/>
          </a:xfrm>
          <a:prstGeom prst="round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1400" dirty="0"/>
              <a:t>data_prep_intersect_g</a:t>
            </a:r>
            <a:r>
              <a:rPr lang="en-US" sz="1400" dirty="0" err="1"/>
              <a:t>ift</a:t>
            </a:r>
            <a:r>
              <a:rPr lang="ro-RO" sz="1400" dirty="0"/>
              <a:t>.R</a:t>
            </a:r>
            <a:endParaRPr lang="en-DE" sz="1400" dirty="0"/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79AC063B-EF3D-4BBC-91C3-39015676FDFF}"/>
              </a:ext>
            </a:extLst>
          </p:cNvPr>
          <p:cNvSpPr/>
          <p:nvPr/>
        </p:nvSpPr>
        <p:spPr>
          <a:xfrm>
            <a:off x="3721557" y="1462025"/>
            <a:ext cx="2033642" cy="297810"/>
          </a:xfrm>
          <a:prstGeom prst="round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data_prep_intersect_gadm.R</a:t>
            </a:r>
            <a:endParaRPr lang="en-DE" sz="1200" dirty="0"/>
          </a:p>
        </p:txBody>
      </p:sp>
      <p:cxnSp>
        <p:nvCxnSpPr>
          <p:cNvPr id="94" name="Connector: Elbow 93">
            <a:extLst>
              <a:ext uri="{FF2B5EF4-FFF2-40B4-BE49-F238E27FC236}">
                <a16:creationId xmlns:a16="http://schemas.microsoft.com/office/drawing/2014/main" id="{B75AA6E8-F974-4F34-BC1D-1164F0BEABD0}"/>
              </a:ext>
            </a:extLst>
          </p:cNvPr>
          <p:cNvCxnSpPr>
            <a:cxnSpLocks/>
            <a:stCxn id="4" idx="2"/>
            <a:endCxn id="82" idx="3"/>
          </p:cNvCxnSpPr>
          <p:nvPr/>
        </p:nvCxnSpPr>
        <p:spPr>
          <a:xfrm rot="5400000">
            <a:off x="5075911" y="2008768"/>
            <a:ext cx="3298699" cy="1599319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17CA3C83-C396-474D-9023-1585210EB6B0}"/>
              </a:ext>
            </a:extLst>
          </p:cNvPr>
          <p:cNvCxnSpPr>
            <a:cxnSpLocks/>
            <a:stCxn id="41" idx="2"/>
            <a:endCxn id="11" idx="0"/>
          </p:cNvCxnSpPr>
          <p:nvPr/>
        </p:nvCxnSpPr>
        <p:spPr>
          <a:xfrm>
            <a:off x="4738378" y="1759835"/>
            <a:ext cx="0" cy="20472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3BB3E12E-E458-42CC-819C-9D7F6CD67820}"/>
              </a:ext>
            </a:extLst>
          </p:cNvPr>
          <p:cNvCxnSpPr>
            <a:cxnSpLocks/>
            <a:stCxn id="11" idx="2"/>
            <a:endCxn id="55" idx="0"/>
          </p:cNvCxnSpPr>
          <p:nvPr/>
        </p:nvCxnSpPr>
        <p:spPr>
          <a:xfrm>
            <a:off x="4738378" y="2730480"/>
            <a:ext cx="0" cy="23409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3D109D20-9CB1-4CD1-B7CB-FCF172504593}"/>
              </a:ext>
            </a:extLst>
          </p:cNvPr>
          <p:cNvCxnSpPr>
            <a:cxnSpLocks/>
            <a:stCxn id="36" idx="2"/>
            <a:endCxn id="22" idx="0"/>
          </p:cNvCxnSpPr>
          <p:nvPr/>
        </p:nvCxnSpPr>
        <p:spPr>
          <a:xfrm>
            <a:off x="9507519" y="2230376"/>
            <a:ext cx="0" cy="79219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0169AE59-D1AC-49A1-9A19-736B55AE0589}"/>
              </a:ext>
            </a:extLst>
          </p:cNvPr>
          <p:cNvCxnSpPr>
            <a:cxnSpLocks/>
            <a:stCxn id="5" idx="2"/>
            <a:endCxn id="12" idx="0"/>
          </p:cNvCxnSpPr>
          <p:nvPr/>
        </p:nvCxnSpPr>
        <p:spPr>
          <a:xfrm>
            <a:off x="1423018" y="3253052"/>
            <a:ext cx="4082" cy="77228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B9BB2AD1-8C3F-4845-A78B-7AB515A89210}"/>
              </a:ext>
            </a:extLst>
          </p:cNvPr>
          <p:cNvCxnSpPr>
            <a:cxnSpLocks/>
            <a:stCxn id="82" idx="2"/>
            <a:endCxn id="14" idx="0"/>
          </p:cNvCxnSpPr>
          <p:nvPr/>
        </p:nvCxnSpPr>
        <p:spPr>
          <a:xfrm flipH="1">
            <a:off x="4738378" y="4606682"/>
            <a:ext cx="1" cy="25824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Rectangle: Rounded Corners 162">
            <a:extLst>
              <a:ext uri="{FF2B5EF4-FFF2-40B4-BE49-F238E27FC236}">
                <a16:creationId xmlns:a16="http://schemas.microsoft.com/office/drawing/2014/main" id="{AD3D1173-DCC3-410A-B754-7ABB08649AF3}"/>
              </a:ext>
            </a:extLst>
          </p:cNvPr>
          <p:cNvSpPr/>
          <p:nvPr/>
        </p:nvSpPr>
        <p:spPr>
          <a:xfrm>
            <a:off x="6363747" y="6269373"/>
            <a:ext cx="1518404" cy="297810"/>
          </a:xfrm>
          <a:prstGeom prst="round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1200" dirty="0"/>
              <a:t>data_prep_merge.R </a:t>
            </a:r>
            <a:endParaRPr lang="en-DE" sz="1200" dirty="0"/>
          </a:p>
        </p:txBody>
      </p:sp>
      <p:cxnSp>
        <p:nvCxnSpPr>
          <p:cNvPr id="188" name="Connector: Elbow 187">
            <a:extLst>
              <a:ext uri="{FF2B5EF4-FFF2-40B4-BE49-F238E27FC236}">
                <a16:creationId xmlns:a16="http://schemas.microsoft.com/office/drawing/2014/main" id="{40FC4903-BB9B-4114-A5B1-52C312FBF6DD}"/>
              </a:ext>
            </a:extLst>
          </p:cNvPr>
          <p:cNvCxnSpPr>
            <a:stCxn id="12" idx="2"/>
            <a:endCxn id="163" idx="1"/>
          </p:cNvCxnSpPr>
          <p:nvPr/>
        </p:nvCxnSpPr>
        <p:spPr>
          <a:xfrm rot="16200000" flipH="1">
            <a:off x="3538549" y="3593079"/>
            <a:ext cx="713749" cy="4936647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Straight Arrow Connector 195">
            <a:extLst>
              <a:ext uri="{FF2B5EF4-FFF2-40B4-BE49-F238E27FC236}">
                <a16:creationId xmlns:a16="http://schemas.microsoft.com/office/drawing/2014/main" id="{D7E7992E-9FB8-4F0D-AC22-D8F195287AB3}"/>
              </a:ext>
            </a:extLst>
          </p:cNvPr>
          <p:cNvCxnSpPr>
            <a:cxnSpLocks/>
            <a:stCxn id="163" idx="3"/>
            <a:endCxn id="49" idx="1"/>
          </p:cNvCxnSpPr>
          <p:nvPr/>
        </p:nvCxnSpPr>
        <p:spPr>
          <a:xfrm flipV="1">
            <a:off x="7882151" y="6016952"/>
            <a:ext cx="460700" cy="40132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88365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259</Words>
  <Application>Microsoft Office PowerPoint</Application>
  <PresentationFormat>Widescreen</PresentationFormat>
  <Paragraphs>40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Stefan, Valentin</dc:creator>
  <cp:lastModifiedBy>Stefan, Valentin</cp:lastModifiedBy>
  <cp:revision>60</cp:revision>
  <dcterms:created xsi:type="dcterms:W3CDTF">2020-12-11T09:27:15Z</dcterms:created>
  <dcterms:modified xsi:type="dcterms:W3CDTF">2020-12-11T13:16:26Z</dcterms:modified>
</cp:coreProperties>
</file>